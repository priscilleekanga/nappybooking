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66" d="100"/>
          <a:sy n="66" d="100"/>
        </p:scale>
        <p:origin x="644" y="2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56423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</a:rPr>
              <a:t>Release Planning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fr-FR" sz="1400" b="1" dirty="0" err="1"/>
              <a:t>BeautyBook</a:t>
            </a:r>
            <a:r>
              <a:rPr lang="en-US" sz="1200" dirty="0" smtClean="0">
                <a:solidFill>
                  <a:srgbClr val="374151"/>
                </a:solidFill>
              </a:rPr>
              <a:t>- </a:t>
            </a:r>
            <a:r>
              <a:rPr lang="en-US" sz="1200" dirty="0">
                <a:solidFill>
                  <a:srgbClr val="374151"/>
                </a:solidFill>
              </a:rPr>
              <a:t>Projet du 02/02/2026 au 01/05/2026 (Sprint 7 raccourci)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11183112" cy="525780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34440"/>
            <a:ext cx="2795778" cy="594360"/>
          </a:xfrm>
          <a:prstGeom prst="rect">
            <a:avLst/>
          </a:prstGeom>
          <a:solidFill>
            <a:srgbClr val="D1D5D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6072" y="1307592"/>
            <a:ext cx="264947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</a:rPr>
              <a:t>Sprint 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76072" y="1527048"/>
            <a:ext cx="264947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</a:rPr>
              <a:t>02/02/2026 - 15/02/2026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1837944"/>
            <a:ext cx="2795778" cy="548640"/>
          </a:xfrm>
          <a:prstGeom prst="rect">
            <a:avLst/>
          </a:prstGeom>
          <a:solidFill>
            <a:srgbClr val="EEF2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76072" y="1901952"/>
            <a:ext cx="264947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111827"/>
                </a:solidFill>
              </a:rPr>
              <a:t>Goal: </a:t>
            </a:r>
            <a:r>
              <a:rPr lang="fr-FR" sz="900" dirty="0"/>
              <a:t>Socle technique &amp; Modèle de données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02920" y="2377440"/>
            <a:ext cx="2795778" cy="411480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76072" y="2500376"/>
            <a:ext cx="2649474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" y="2551176"/>
            <a:ext cx="250317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fr-FR" sz="900" dirty="0"/>
              <a:t>Initialisation du repo (GitHub) + Structure MERN (</a:t>
            </a:r>
            <a:r>
              <a:rPr lang="fr-FR" sz="900" dirty="0" err="1"/>
              <a:t>Node</a:t>
            </a:r>
            <a:r>
              <a:rPr lang="fr-FR" sz="900" dirty="0"/>
              <a:t>/Express/</a:t>
            </a:r>
            <a:r>
              <a:rPr lang="fr-FR" sz="900" dirty="0" err="1"/>
              <a:t>React</a:t>
            </a:r>
            <a:r>
              <a:rPr lang="fr-FR" sz="900" dirty="0"/>
              <a:t>/Mongo).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76072" y="3054096"/>
            <a:ext cx="2649474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14" name="Text 12"/>
          <p:cNvSpPr/>
          <p:nvPr/>
        </p:nvSpPr>
        <p:spPr>
          <a:xfrm>
            <a:off x="649224" y="3118104"/>
            <a:ext cx="250317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 err="1" smtClean="0">
                <a:solidFill>
                  <a:srgbClr val="111827"/>
                </a:solidFill>
              </a:rPr>
              <a:t>Modele</a:t>
            </a:r>
            <a:r>
              <a:rPr lang="en-US" sz="900" dirty="0" smtClean="0">
                <a:solidFill>
                  <a:srgbClr val="111827"/>
                </a:solidFill>
              </a:rPr>
              <a:t> de </a:t>
            </a:r>
            <a:r>
              <a:rPr lang="en-US" sz="900" dirty="0" err="1" smtClean="0">
                <a:solidFill>
                  <a:srgbClr val="111827"/>
                </a:solidFill>
              </a:rPr>
              <a:t>données</a:t>
            </a:r>
            <a:r>
              <a:rPr lang="en-US" sz="900" dirty="0" smtClean="0">
                <a:solidFill>
                  <a:srgbClr val="111827"/>
                </a:solidFill>
              </a:rPr>
              <a:t> ( Salon, </a:t>
            </a:r>
            <a:r>
              <a:rPr lang="en-US" sz="900" dirty="0" err="1" smtClean="0">
                <a:solidFill>
                  <a:srgbClr val="111827"/>
                </a:solidFill>
              </a:rPr>
              <a:t>prestation</a:t>
            </a:r>
            <a:r>
              <a:rPr lang="en-US" sz="900" dirty="0" smtClean="0">
                <a:solidFill>
                  <a:srgbClr val="111827"/>
                </a:solidFill>
              </a:rPr>
              <a:t>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76072" y="3621024"/>
            <a:ext cx="2649474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" y="3685032"/>
            <a:ext cx="250317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fr-FR" sz="900" dirty="0"/>
              <a:t>Configuration de la connexion </a:t>
            </a:r>
            <a:r>
              <a:rPr lang="fr-FR" sz="900" dirty="0" err="1"/>
              <a:t>MongoDB</a:t>
            </a:r>
            <a:r>
              <a:rPr lang="fr-FR" sz="900" dirty="0"/>
              <a:t> Atlas.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12648" y="4192524"/>
            <a:ext cx="2649474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9224" y="4251960"/>
            <a:ext cx="250317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fr-FR" sz="900" dirty="0"/>
              <a:t>Authentification de base (Inscription/Connexion).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298698" y="1234440"/>
            <a:ext cx="2795778" cy="594360"/>
          </a:xfrm>
          <a:prstGeom prst="rect">
            <a:avLst/>
          </a:prstGeom>
          <a:solidFill>
            <a:srgbClr val="D1D5D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71850" y="1307592"/>
            <a:ext cx="264947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</a:rPr>
              <a:t>Sprint 2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371850" y="1527048"/>
            <a:ext cx="264947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</a:rPr>
              <a:t>16/02/2026 - 01/03/2026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98698" y="1828800"/>
            <a:ext cx="2795778" cy="548640"/>
          </a:xfrm>
          <a:prstGeom prst="rect">
            <a:avLst/>
          </a:prstGeom>
          <a:solidFill>
            <a:srgbClr val="EEF2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71850" y="1901952"/>
            <a:ext cx="264947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111827"/>
                </a:solidFill>
              </a:rPr>
              <a:t>Goal: </a:t>
            </a:r>
            <a:r>
              <a:rPr lang="fr-FR" sz="900" dirty="0"/>
              <a:t>Configuration Salon (Espace Marc) 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298698" y="2377440"/>
            <a:ext cx="2795778" cy="411480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371850" y="2487168"/>
            <a:ext cx="2649474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45002" y="2551176"/>
            <a:ext cx="250317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fr-FR" sz="900" dirty="0"/>
              <a:t>Dashboard Admin pour le gérant.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371850" y="3054096"/>
            <a:ext cx="2649474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45002" y="3118104"/>
            <a:ext cx="250317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fr-FR" sz="900" dirty="0"/>
              <a:t>CRUD des employés (ajouter/modifier/supprimer).</a:t>
            </a:r>
            <a:r>
              <a:rPr lang="en-US" sz="900" dirty="0" smtClean="0">
                <a:solidFill>
                  <a:srgbClr val="111827"/>
                </a:solidFill>
              </a:rPr>
              <a:t>)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371850" y="3621024"/>
            <a:ext cx="2649474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45002" y="3685032"/>
            <a:ext cx="250317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fr-FR" sz="900" dirty="0"/>
              <a:t>CRUD des prestations (nom, prix, durée).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371850" y="4187952"/>
            <a:ext cx="2649474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45002" y="4251960"/>
            <a:ext cx="250317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fr-FR" sz="900" dirty="0"/>
              <a:t>Interface liste des salons pour le client.</a:t>
            </a:r>
          </a:p>
          <a:p>
            <a:pPr marL="0" indent="0">
              <a:buNone/>
            </a:pP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094476" y="1234440"/>
            <a:ext cx="2795778" cy="594360"/>
          </a:xfrm>
          <a:prstGeom prst="rect">
            <a:avLst/>
          </a:prstGeom>
          <a:solidFill>
            <a:srgbClr val="D1D5D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67628" y="1307592"/>
            <a:ext cx="264947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</a:rPr>
              <a:t>Sprint 3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167628" y="1527048"/>
            <a:ext cx="264947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</a:rPr>
              <a:t>02/03/2026 - 15/03/2026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094476" y="1828800"/>
            <a:ext cx="2795778" cy="548640"/>
          </a:xfrm>
          <a:prstGeom prst="rect">
            <a:avLst/>
          </a:prstGeom>
          <a:solidFill>
            <a:srgbClr val="EEF2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67628" y="1901952"/>
            <a:ext cx="264947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111827"/>
                </a:solidFill>
              </a:rPr>
              <a:t>Goal: </a:t>
            </a:r>
            <a:r>
              <a:rPr lang="fr-FR" sz="900" dirty="0"/>
              <a:t>Moteur de disponibilité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094476" y="2377440"/>
            <a:ext cx="2795778" cy="411480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167628" y="2487168"/>
            <a:ext cx="2649474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240780" y="2551176"/>
            <a:ext cx="250317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fr-FR" sz="900" dirty="0"/>
              <a:t>Logique </a:t>
            </a:r>
            <a:r>
              <a:rPr lang="fr-FR" sz="900" dirty="0" err="1"/>
              <a:t>backend</a:t>
            </a:r>
            <a:r>
              <a:rPr lang="fr-FR" sz="900" dirty="0"/>
              <a:t> pour calculer les créneaux libres.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167628" y="3054096"/>
            <a:ext cx="2649474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240780" y="3118104"/>
            <a:ext cx="250317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fr-FR" sz="900" dirty="0"/>
              <a:t>Affichage du calendrier côté client (Julie).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167628" y="3621024"/>
            <a:ext cx="2649474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240780" y="3685032"/>
            <a:ext cx="250317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fr-FR" sz="900" dirty="0"/>
              <a:t>Blocage manuel de créneaux par le gérant (Marc).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167628" y="4187952"/>
            <a:ext cx="2649474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240780" y="4251960"/>
            <a:ext cx="250317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fr-FR" sz="900" dirty="0"/>
              <a:t>Sélection d'un service et d'un créneau.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8890254" y="1234440"/>
            <a:ext cx="2795778" cy="594360"/>
          </a:xfrm>
          <a:prstGeom prst="rect">
            <a:avLst/>
          </a:prstGeom>
          <a:solidFill>
            <a:srgbClr val="D1D5D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963406" y="1307592"/>
            <a:ext cx="264947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</a:rPr>
              <a:t>Sprint 4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8963406" y="1527048"/>
            <a:ext cx="264947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</a:rPr>
              <a:t>16/03/2026 - 29/03/2026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8890254" y="1828800"/>
            <a:ext cx="2795778" cy="548640"/>
          </a:xfrm>
          <a:prstGeom prst="rect">
            <a:avLst/>
          </a:prstGeom>
          <a:solidFill>
            <a:srgbClr val="EEF2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963406" y="1901952"/>
            <a:ext cx="264947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111827"/>
                </a:solidFill>
              </a:rPr>
              <a:t>Goal: </a:t>
            </a:r>
            <a:r>
              <a:rPr lang="fr-FR" sz="900" dirty="0"/>
              <a:t>Réservation bout-en-bout (MVP </a:t>
            </a:r>
            <a:r>
              <a:rPr lang="fr-FR" sz="900" dirty="0" err="1"/>
              <a:t>Ready</a:t>
            </a:r>
            <a:r>
              <a:rPr lang="fr-FR" sz="900" dirty="0"/>
              <a:t>)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8890254" y="2377440"/>
            <a:ext cx="2795778" cy="411480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963406" y="2487168"/>
            <a:ext cx="2649474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036558" y="2551176"/>
            <a:ext cx="250317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fr-FR" sz="900" dirty="0"/>
              <a:t>Tunnel de validation du rendez-vous.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8963406" y="3054096"/>
            <a:ext cx="2649474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9036558" y="3118104"/>
            <a:ext cx="250317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fr-FR" sz="900" dirty="0"/>
              <a:t>Enregistrement du RDV en base de données.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8963406" y="3621024"/>
            <a:ext cx="2649474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58" name="Text 56"/>
          <p:cNvSpPr/>
          <p:nvPr/>
        </p:nvSpPr>
        <p:spPr>
          <a:xfrm>
            <a:off x="9036558" y="3685032"/>
            <a:ext cx="250317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fr-FR" sz="900" dirty="0"/>
              <a:t>Page "Mes rendez-vous" pour Julie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8963406" y="4187952"/>
            <a:ext cx="2649474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9036558" y="4251960"/>
            <a:ext cx="250317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fr-FR" sz="900" dirty="0"/>
              <a:t>Vue "Planning du jour" pour Marc.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10268712" y="1033272"/>
            <a:ext cx="1325880" cy="320040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0296144" y="1069848"/>
            <a:ext cx="127101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Release MVP (29/03/2026)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</a:rPr>
              <a:t>Release Planning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fr-FR" sz="1600" b="1" dirty="0" err="1"/>
              <a:t>BeautyBook</a:t>
            </a:r>
            <a:r>
              <a:rPr lang="en-US" sz="1200" dirty="0" smtClean="0">
                <a:solidFill>
                  <a:srgbClr val="374151"/>
                </a:solidFill>
              </a:rPr>
              <a:t> </a:t>
            </a:r>
            <a:r>
              <a:rPr lang="en-US" sz="1200" dirty="0">
                <a:solidFill>
                  <a:srgbClr val="374151"/>
                </a:solidFill>
              </a:rPr>
              <a:t>- Stabilisation, valeur additionnelle et livraison finale au 01/05/2026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11183112" cy="525780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34440"/>
            <a:ext cx="3727704" cy="594360"/>
          </a:xfrm>
          <a:prstGeom prst="rect">
            <a:avLst/>
          </a:prstGeom>
          <a:solidFill>
            <a:srgbClr val="D1D5D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6072" y="1307592"/>
            <a:ext cx="3581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</a:rPr>
              <a:t>Sprint 5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76072" y="1527048"/>
            <a:ext cx="3581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</a:rPr>
              <a:t>30/03/2026 - 12/04/2026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1828800"/>
            <a:ext cx="3727704" cy="548640"/>
          </a:xfrm>
          <a:prstGeom prst="rect">
            <a:avLst/>
          </a:prstGeom>
          <a:solidFill>
            <a:srgbClr val="EEF2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76072" y="1901952"/>
            <a:ext cx="3581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111827"/>
                </a:solidFill>
              </a:rPr>
              <a:t>Goal: </a:t>
            </a:r>
            <a:r>
              <a:rPr lang="fr-FR" sz="900" dirty="0"/>
              <a:t>Communication &amp; Expérience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02920" y="2377440"/>
            <a:ext cx="3727704" cy="411480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76072" y="2487168"/>
            <a:ext cx="358140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" y="2551176"/>
            <a:ext cx="34350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fr-FR" sz="900" dirty="0"/>
              <a:t>Simulation d'envoi de mail de confirmation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76072" y="3054096"/>
            <a:ext cx="358140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" y="3118104"/>
            <a:ext cx="34350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fr-FR" sz="900" dirty="0"/>
              <a:t>Amélioration de l'UI/UX (Design responsive mobile-first).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76072" y="3621024"/>
            <a:ext cx="358140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" y="3685032"/>
            <a:ext cx="34350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fr-FR" sz="900" dirty="0"/>
              <a:t>Gestion des annulations par le client.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49224" y="4251960"/>
            <a:ext cx="34350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230624" y="1234440"/>
            <a:ext cx="3727704" cy="594360"/>
          </a:xfrm>
          <a:prstGeom prst="rect">
            <a:avLst/>
          </a:prstGeom>
          <a:solidFill>
            <a:srgbClr val="D1D5D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03776" y="1307592"/>
            <a:ext cx="3581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</a:rPr>
              <a:t>Sprint 6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303776" y="1527048"/>
            <a:ext cx="3581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</a:rPr>
              <a:t>13/04/2026 - 26/04/2026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230624" y="1828800"/>
            <a:ext cx="3727704" cy="548640"/>
          </a:xfrm>
          <a:prstGeom prst="rect">
            <a:avLst/>
          </a:prstGeom>
          <a:solidFill>
            <a:srgbClr val="EEF2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03776" y="1901952"/>
            <a:ext cx="3581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111827"/>
                </a:solidFill>
              </a:rPr>
              <a:t>Goal: </a:t>
            </a:r>
            <a:r>
              <a:rPr lang="fr-FR" sz="900" dirty="0"/>
              <a:t>Supervision &amp; Statistiques (Espace Priscille)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230624" y="2377440"/>
            <a:ext cx="3727704" cy="411480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303776" y="2487168"/>
            <a:ext cx="358140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26" name="Text 24"/>
          <p:cNvSpPr/>
          <p:nvPr/>
        </p:nvSpPr>
        <p:spPr>
          <a:xfrm>
            <a:off x="4376928" y="2551176"/>
            <a:ext cx="34350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fr-FR" sz="900" dirty="0"/>
              <a:t>Dashboard pour l'admin plateforme (Priscille).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303776" y="3054096"/>
            <a:ext cx="358140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76928" y="3118104"/>
            <a:ext cx="34350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fr-FR" sz="900" dirty="0"/>
              <a:t>Statistiques simples (Nombre de RDV totaux, salons actifs).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303776" y="3621024"/>
            <a:ext cx="358140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76928" y="3685032"/>
            <a:ext cx="34350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fr-FR" sz="900" dirty="0"/>
              <a:t>Gestion des rôles et permissions (Sécurité API).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303776" y="4187952"/>
            <a:ext cx="358140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6928" y="4251960"/>
            <a:ext cx="34350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</a:rPr>
              <a:t>Deploiement reproductible (optionnel)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958328" y="1234440"/>
            <a:ext cx="3727704" cy="594360"/>
          </a:xfrm>
          <a:prstGeom prst="rect">
            <a:avLst/>
          </a:prstGeom>
          <a:solidFill>
            <a:srgbClr val="D1D5D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031480" y="1307592"/>
            <a:ext cx="3581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</a:rPr>
              <a:t>Sprint 7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031480" y="1527048"/>
            <a:ext cx="3581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</a:rPr>
              <a:t>27/04/2026 - 01/05/2026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7958328" y="1828800"/>
            <a:ext cx="3727704" cy="548640"/>
          </a:xfrm>
          <a:prstGeom prst="rect">
            <a:avLst/>
          </a:prstGeom>
          <a:solidFill>
            <a:srgbClr val="EEF2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031480" y="1901952"/>
            <a:ext cx="3581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111827"/>
                </a:solidFill>
              </a:rPr>
              <a:t>Goal: </a:t>
            </a:r>
            <a:r>
              <a:rPr lang="fr-FR" sz="900" dirty="0"/>
              <a:t>Livraison finale &amp; Démo</a:t>
            </a:r>
            <a:r>
              <a:rPr lang="en-US" sz="900" dirty="0" smtClean="0">
                <a:solidFill>
                  <a:srgbClr val="111827"/>
                </a:solidFill>
              </a:rPr>
              <a:t>)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7958328" y="2377440"/>
            <a:ext cx="3727704" cy="411480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031480" y="2487168"/>
            <a:ext cx="358140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104632" y="2551176"/>
            <a:ext cx="34350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</a:rPr>
              <a:t>Corrections finales (bugs)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8031480" y="3054096"/>
            <a:ext cx="358140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104632" y="3118104"/>
            <a:ext cx="34350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fr-FR" sz="900" dirty="0"/>
              <a:t>Nettoyage des données de test (</a:t>
            </a:r>
            <a:r>
              <a:rPr lang="fr-FR" sz="900" dirty="0" err="1"/>
              <a:t>Seed</a:t>
            </a:r>
            <a:r>
              <a:rPr lang="fr-FR" sz="900" dirty="0"/>
              <a:t> de la DB).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8031480" y="3621024"/>
            <a:ext cx="358140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104632" y="3685032"/>
            <a:ext cx="34350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 err="1" smtClean="0">
                <a:solidFill>
                  <a:srgbClr val="111827"/>
                </a:solidFill>
              </a:rPr>
              <a:t>Préparation</a:t>
            </a:r>
            <a:r>
              <a:rPr lang="en-US" sz="900" dirty="0" smtClean="0">
                <a:solidFill>
                  <a:srgbClr val="111827"/>
                </a:solidFill>
              </a:rPr>
              <a:t> du support de </a:t>
            </a:r>
            <a:r>
              <a:rPr lang="en-US" sz="900" dirty="0" err="1" smtClean="0">
                <a:solidFill>
                  <a:srgbClr val="111827"/>
                </a:solidFill>
              </a:rPr>
              <a:t>soutenance</a:t>
            </a:r>
            <a:r>
              <a:rPr lang="en-US" sz="900" dirty="0" smtClean="0">
                <a:solidFill>
                  <a:srgbClr val="111827"/>
                </a:solidFill>
              </a:rPr>
              <a:t> et de la video demo.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8031480" y="4187952"/>
            <a:ext cx="358140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104632" y="4251960"/>
            <a:ext cx="34350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 smtClean="0">
                <a:solidFill>
                  <a:srgbClr val="111827"/>
                </a:solidFill>
              </a:rPr>
              <a:t>L</a:t>
            </a:r>
            <a:r>
              <a:rPr lang="en-US" sz="900" dirty="0" smtClean="0">
                <a:solidFill>
                  <a:srgbClr val="111827"/>
                </a:solidFill>
              </a:rPr>
              <a:t>ivraison finale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10268712" y="1033272"/>
            <a:ext cx="1325880" cy="320040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0296144" y="1069848"/>
            <a:ext cx="127101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Go-Live (01/05/2026)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10865937" y="1280160"/>
            <a:ext cx="0" cy="516636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0225857" y="1371600"/>
            <a:ext cx="1280160" cy="292608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0253289" y="1417320"/>
            <a:ext cx="12252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Release finale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334</Words>
  <Application>Microsoft Office PowerPoint</Application>
  <PresentationFormat>Grand écran</PresentationFormat>
  <Paragraphs>57</Paragraphs>
  <Slides>2</Slides>
  <Notes>2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6" baseType="lpstr">
      <vt:lpstr>Aptos</vt:lpstr>
      <vt:lpstr>Arial</vt:lpstr>
      <vt:lpstr>Calibri</vt:lpstr>
      <vt:lpstr>Office Theme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Release Planning - TheOBio</dc:subject>
  <dc:creator>Coach Scrum CDWFS</dc:creator>
  <cp:lastModifiedBy>HP</cp:lastModifiedBy>
  <cp:revision>5</cp:revision>
  <dcterms:created xsi:type="dcterms:W3CDTF">2026-01-27T11:26:49Z</dcterms:created>
  <dcterms:modified xsi:type="dcterms:W3CDTF">2026-01-28T09:20:11Z</dcterms:modified>
</cp:coreProperties>
</file>